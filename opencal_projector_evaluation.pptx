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Optoma ML1080 Projector Evaluation</a:t>
            </a:r>
          </a:p>
          <a:p>
            <a:pPr>
              <a:spcAft>
                <a:spcPts val="2400"/>
              </a:spcAft>
              <a:defRPr sz="2000">
                <a:solidFill>
                  <a:srgbClr val="000000"/>
                </a:solidFill>
              </a:defRPr>
            </a:pPr>
            <a:r>
              <a:t>Photometric Characterization, CAD Optical Scaling &amp; Curing Failure Analysis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OpenCAL Computed Axial Lithography Project | Experimental &amp; Theoretical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1. Background: Why We Chose It &amp; Print Test Outcome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Consultation with Berkeley OpenCAL Lead &amp; Initial Test Print Failure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Why We Ordered the Optoma ML1080</a:t>
            </a:r>
          </a:p>
          <a:p>
            <a:pPr>
              <a:spcAft>
                <a:spcPts val="600"/>
              </a:spcAft>
              <a:defRPr sz="1200" b="1">
                <a:solidFill>
                  <a:srgbClr val="000000"/>
                </a:solidFill>
              </a:defRPr>
            </a:pPr>
            <a:r>
              <a:t>Consultation with Taylor Waddell (UC Berkeley Lead):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t>In our email exchange on March 24, 2026, we reviewed hardware configurations for OpenCAL. Taylor evaluated the Optoma ML1080 RGB laser projector and confirmed it looked like a strong fit for our setup.</a:t>
            </a:r>
          </a:p>
          <a:p>
            <a:pPr>
              <a:spcAft>
                <a:spcPts val="600"/>
              </a:spcAft>
              <a:defRPr sz="1200" b="1">
                <a:solidFill>
                  <a:srgbClr val="000000"/>
                </a:solidFill>
              </a:defRPr>
            </a:pPr>
            <a:r>
              <a:t>Key Assumed Advantages: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t>• Triple RGB Laser Engine: Narrow spectral emission peaks (~450 nm blue) matching photoinitiator absorption.</a:t>
            </a:r>
            <a:br/>
            <a:r>
              <a:t>• Compact Form Factor: Ideal for compact benchtop rig integration.</a:t>
            </a:r>
            <a:br/>
            <a:r>
              <a:t>• Short Throw Ratio (1.2:1): Efficient working distance for collimating optics.</a:t>
            </a:r>
          </a:p>
          <a:p>
            <a:pPr>
              <a:spcAft>
                <a:spcPts val="600"/>
              </a:spcAft>
              <a:defRPr sz="1200" b="1">
                <a:solidFill>
                  <a:srgbClr val="000000"/>
                </a:solidFill>
              </a:defRPr>
            </a:pPr>
            <a:r>
              <a:t>Target Expectations: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t>Expected rapid volumetric gelation within 30 to 90 seconds based on published literature values.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Initial Print Test: The Captive Ring Failure</a:t>
            </a:r>
          </a:p>
          <a:p>
            <a:pPr>
              <a:spcAft>
                <a:spcPts val="600"/>
              </a:spcAft>
              <a:defRPr sz="1200" b="1">
                <a:solidFill>
                  <a:srgbClr val="000000"/>
                </a:solidFill>
              </a:defRPr>
            </a:pPr>
            <a:r>
              <a:t>Experimental Setup: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t>• Part: Mini captive ring benchmark model.</a:t>
            </a:r>
            <a:br/>
            <a:r>
              <a:t>• Mode: Projector at 100% Bright Mode (maximum laser output).</a:t>
            </a:r>
            <a:br/>
            <a:r>
              <a:t>• Material: Standard CAL acrylate resin with camphorquinone (CQ) / amine initiator.</a:t>
            </a:r>
          </a:p>
          <a:p>
            <a:pPr>
              <a:spcAft>
                <a:spcPts val="600"/>
              </a:spcAft>
              <a:defRPr sz="1200" b="1">
                <a:solidFill>
                  <a:srgbClr val="000000"/>
                </a:solidFill>
              </a:defRPr>
            </a:pPr>
            <a:r>
              <a:t>Observations During Exposure: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t>• Target curing time (30 - 90 s) produced completely uncured liquid resin.</a:t>
            </a:r>
            <a:br/>
            <a:r>
              <a:t>• At 5 minutes: No discernible gel boundary forming inside the rotating vial.</a:t>
            </a:r>
            <a:br/>
            <a:r>
              <a:t>• Extended exposure to 10 full minutes (600 seconds): Solidification finally initiated, but the part was severely ruined.</a:t>
            </a:r>
          </a:p>
          <a:p>
            <a:pPr>
              <a:spcAft>
                <a:spcPts val="600"/>
              </a:spcAft>
              <a:defRPr sz="1200" b="1">
                <a:solidFill>
                  <a:srgbClr val="000000"/>
                </a:solidFill>
              </a:defRPr>
            </a:pPr>
            <a:r>
              <a:t>Failure Mechanics: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t>Excessive exposure time allowed severe oxygen diffusion and thermal/species cross-diffusion. Resulted in overcured outer slag with an ungelled liquid inner core. Clear evidence of photon starvation at the actinic wavelength.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2. Optical Measurements: Photodiode Characterization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Direct Power Meter Readings at Vial Position across Channels and Wavelength Settings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5760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645920"/>
              </a:tblGrid>
              <a:tr h="4368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Projected Color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Power Meter λ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Measured Power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</a:defRPr>
                      </a:pPr>
                      <a:r>
                        <a:t>Calculated Irradiance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Full White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400 nm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4.09 mW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16.36 mW/cm²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Full White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430 nm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3.50 mW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14.00 mW/cm²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Full White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450 nm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3.20 mW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12.80 mW/cm²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Pure Blue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400 nm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0.60 mW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2.40 mW/cm²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Pure Blue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430 nm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0.56 mW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2.24 mW/cm²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Pure Blue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450 nm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0.50 mW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2.00 mW/cm² (Actinic)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Pure Green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550 nm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0.54 mW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2.16 mW/cm²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Pure Red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650 nm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1.01 mW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4.04 mW/cm²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9496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Key Measurement Note: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Sensor: Gentec-EO Silicon Photodiode (5 x 5 mm aperture, area = 0.25 cm²). At the active photoinitiator wavelength (450 nm pure blue), the measured power was only 0.50 mW, yielding an irradiance of exactly 2.00 mW/cm².</a:t>
            </a:r>
          </a:p>
        </p:txBody>
      </p:sp>
      <p:pic>
        <p:nvPicPr>
          <p:cNvPr id="5" name="Picture 4" descr="plot_raw_measu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663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3. Spot Sizing in GUI &amp; Sensor Alignment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Correlating GUI Presets to the 5x5 mm Aperture &amp; Optical Cone Ray-Tracing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0000"/>
                </a:solidFill>
              </a:defRPr>
            </a:pPr>
            <a:r>
              <a:t>GUI Calibration &amp; Physical Sensor Mapping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Projector GUI Presets (scripts/projector_gui.py):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The calibration interface provided discrete presets: [1px, 5px, 10px, 25px, 50px, 100px, 200px], alongside continuous Width/Height sliders (1 to 500 px) with a [x] Lock 1:1 aspect toggle.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At optical distance D ≈ 204 mm (80.1 μm/px H, 88.3 μm/px V):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• Scenario A (50px Preset Selected):</a:t>
            </a:r>
            <a:br/>
            <a:r>
              <a:t>  Physical spot = 50 px * 0.0801 mm/px = 4.0 mm (H) x 4.4 mm (V).</a:t>
            </a:r>
            <a:br/>
            <a:r>
              <a:t>  Spot Area ≈ 17.6 mm² sits 100% inside the 5.0 x 5.0 mm (25 mm²) aperture.</a:t>
            </a:r>
            <a:br/>
            <a:r>
              <a:t>• Scenario B (Slider Tuned to ~60-62 px):</a:t>
            </a:r>
            <a:br/>
            <a:r>
              <a:t>  Physical spot matches 5.0 x 5.0 mm (25.0 mm²) exactly 1:1.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Zero Spillover Proof: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In both scenarios, 100% of projected photons fell entirely within the active silicon photodiode window. Zero optical power was clipped outside the detector frame.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Consistent Total Power Math: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• If 50 px (2,500 px / 0.12% chip): P_total = 0.50 mW / 0.00121 ≈ 0.41 W</a:t>
            </a:r>
            <a:br/>
            <a:r>
              <a:t>• If 60 px (3,700 px / 0.18% chip): P_total = 0.50 mW / 0.00178 ≈ 0.28 W</a:t>
            </a:r>
            <a:br/>
            <a:r>
              <a:t>Both scenarios prove the total blue engine output is capped at ~0.3 - 0.4 W.</a:t>
            </a:r>
          </a:p>
        </p:txBody>
      </p:sp>
      <p:pic>
        <p:nvPicPr>
          <p:cNvPr id="4" name="Picture 3" descr="extracted_user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53949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Optical CAD Ray-Tracing: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Total projected 1080p frame at D = 204 mm is ~16,180 mm² (1920 x 1080 = 2,073,600 px). The 5 x 5 mm sensor patch corresponds to only ~3,534 px (0.17% of total frame).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4. Mathematical Validation &amp; Literature Correlation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Correlating Measured Power with Electrical Limits and Photo-Kinetics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0000"/>
                </a:solidFill>
              </a:defRPr>
            </a:pPr>
            <a:r>
              <a:t>Step 1: Measured Irradiance at Vial Position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Photodiode Area: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A_sensor = 5 mm * 5 mm = 25 mm² = 0.25 cm²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Irradiance Calculation: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I_meas = P_meas / A_sensor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I_meas = (0.50 mW) / (0.25 cm²) = 2.00 mW/cm²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Actinic flux delivered directly to the resin vial is exactly 2.00 mW/cm².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0000"/>
                </a:solidFill>
              </a:defRPr>
            </a:pPr>
            <a:r>
              <a:t>Step 2: Total Blue Optical Power (CAD Scaling)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Chip Fraction Sampled by 5x5 mm Sensor: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f_area = N_spot / N_total = (3,534 px) / (2,073,600 px) ≈ 0.170% = 0.00185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Extrapolated Total Blue Optical Power: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P_total,measured = P_meas / f_area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P_total,measured = (0.50 mW) / 0.00185 ≈ 0.27 W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The full Optoma ML1080 blue engine produces only 0.27 W across the whole frame.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4688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0000"/>
                </a:solidFill>
              </a:defRPr>
            </a:pPr>
            <a:r>
              <a:t>Step 3: Theoretical Proof (From 32W Wall Draw)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Electrical Power Budget: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• Total Wall Power Consumption = 32 W</a:t>
            </a:r>
            <a:br/>
            <a:r>
              <a:t>• Electronics, SOC, cooling fans, and DMD logic draw ~25 W</a:t>
            </a:r>
            <a:br/>
            <a:r>
              <a:t>• Electrical power available to blue laser diode = ~5 to 7 W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Theoretical Optical Output: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P_total,theoretical = P_elec * Efficiency_diode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P_total,theoretical = 7 W * 0.40 (GaN blue efficiency) ≈ 0.29 W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Comparison: 0.27 W (CAD Measured) vs 0.29 W (32W Power Limit) -&gt; 93% MATCH!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4688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0000"/>
                </a:solidFill>
              </a:defRPr>
            </a:pPr>
            <a:r>
              <a:t>Step 4: Literature Correlation (Kelly et al. 2019)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Energy Unit Definition (Joules from Watts):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Energy (J) = Power (W) * Time (s)  --&gt;  1 mJ = 1 mW*s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Volumetric Critical Gelation Dose (Acrylate Resin):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H_crit = I * t = 1200 mJ/cm² = 1200 (mW*s) / cm²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Exposure Time Required with Optoma ML1080: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t_req = H_crit / I_meas = (1200 mW*s/cm²) / (2.00 mW/cm²) = 600 s (10 min)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Outcome: At 10 minutes, oxygen diffusion ruins axial resolution.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5. Pre-Purchase Verification: In-Store Testing Protocol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Using CAD Optical Scaling to Verify Replacement Projectors In-Shop Without Rig Optics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00000"/>
                </a:solidFill>
              </a:defRPr>
            </a:pPr>
            <a:r>
              <a:t>In-Shop Benchmark Test (No Lens Required)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Equipment to Bring to the Shop: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Laptop + Gentec-EO Silicon Photodiode Power Meter (5 x 5 mm aperture, 0.25 cm²).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Measurement Procedure: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1. Set projector to maximum brightness on a pure blue test slide (450 nm).</a:t>
            </a:r>
            <a:br/>
            <a:r>
              <a:t>2. Place sensor aperture directly in the raw diverging beam at D = 20.0 cm from front pupil.</a:t>
            </a:r>
            <a:br/>
            <a:r>
              <a:t>3. Read the power meter display directly.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CAD Optical Geometry at D = 20 cm: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• Projected Frame Width = 16.7 cm, Height = 9.4 cm</a:t>
            </a:r>
            <a:br/>
            <a:r>
              <a:t>• Total Diverging Beam Area = 157 cm²</a:t>
            </a:r>
            <a:br/>
            <a:r>
              <a:t>• Sensor Capture Fraction = (0.25 cm²) / (157 cm²) ≈ 0.16% of total beam</a:t>
            </a:r>
          </a:p>
          <a:p>
            <a:pPr>
              <a:spcAft>
                <a:spcPts val="400"/>
              </a:spcAft>
              <a:defRPr sz="1050" b="1">
                <a:solidFill>
                  <a:srgbClr val="000000"/>
                </a:solidFill>
              </a:defRPr>
            </a:pPr>
            <a:r>
              <a:t>Pass / Fail Criteria:</a:t>
            </a:r>
          </a:p>
          <a:p>
            <a:pPr>
              <a:spcAft>
                <a:spcPts val="400"/>
              </a:spcAft>
              <a:defRPr sz="1050" b="0">
                <a:solidFill>
                  <a:srgbClr val="000000"/>
                </a:solidFill>
              </a:defRPr>
            </a:pPr>
            <a:r>
              <a:t>• Optoma ML1080 (32W): Reads 0.43 mW -&gt; P_blue = 0.27 W (FAIL - Insufficient)</a:t>
            </a:r>
            <a:br/>
            <a:r>
              <a:t>• Minimum Required (&gt;15 mW/cm²): Must read ≥ 3.5 mW at D = 20 cm</a:t>
            </a:r>
            <a:br/>
            <a:r>
              <a:t>• Recommended (BenQ LH650, 200W): Reads 4.0 to 5.2 mW -&gt; P_blue = 2.5 to 3.3 W (PASS)</a:t>
            </a:r>
          </a:p>
        </p:txBody>
      </p:sp>
      <p:pic>
        <p:nvPicPr>
          <p:cNvPr id="4" name="Picture 3" descr="plot_shop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